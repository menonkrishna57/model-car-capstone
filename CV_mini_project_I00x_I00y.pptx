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fundamental difference between positive obstacles (above ground) and negative obstacles (cavities).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stage of the CV pipeline from optical capture down to swerve evasion.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all 5 core models and algorithms utilized in the pothole and obstacle detection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precise role and justification for every vision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Examine the raw camera frame characteristics and real-world roadway input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4 intermediate visual steps and corridor zone cost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detected pothole bounding box triggers an active evasion maneuver.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live evaluation HUD running on video with bounding boxes and latency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edge runtime comparisons (PyTorch vs ONNX vs NCNN) and RDD2022 training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4 distinct contributions beyond standard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our platform against published road damage models and commercial robotics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verified computer vision achievements and future development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0C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COMPUTER VISION (CV) MINI PROJECT  •  ACADEMIC EVALUATION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Segoe UI"/>
              </a:rPr>
              <a:t>Real-Time Pothole Detection and</a:t>
            </a:r>
          </a:p>
          <a:p>
            <a:pPr algn="l"/>
            <a:r>
              <a:rPr sz="3600" b="1" i="0">
                <a:solidFill>
                  <a:srgbClr val="F1F5F9"/>
                </a:solidFill>
                <a:latin typeface="Segoe UI"/>
              </a:rPr>
              <a:t>Obstacle Avoidance for Autonomous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Segoe UI"/>
              </a:rPr>
              <a:t>A Dual-Modality Computer Vision Pipeline combining Fine-Tuned RDD2022 YOLOv10n Deep Detection with Sub-4ms Classical Laplacian Morphology, Dynamic Corridor Risk Scoring, and Directional Swerve Avoidance.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0698480" cy="21488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PROJECT TEAM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681728"/>
            <a:ext cx="777240" cy="329184"/>
          </a:xfrm>
          <a:prstGeom prst="roundRect">
            <a:avLst>
              <a:gd name="adj" fmla="val 20000"/>
            </a:avLst>
          </a:prstGeom>
          <a:solidFill>
            <a:srgbClr val="18253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2744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681728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"/>
              </a:rPr>
              <a:t>Krishna Menon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700016"/>
            <a:ext cx="6858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Roll No: I028  |  Lead: CV Integration, Serial Arbitration &amp; Edge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120640"/>
            <a:ext cx="777240" cy="329184"/>
          </a:xfrm>
          <a:prstGeom prst="roundRect">
            <a:avLst>
              <a:gd name="adj" fmla="val 20000"/>
            </a:avLst>
          </a:prstGeom>
          <a:solidFill>
            <a:srgbClr val="18253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59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20640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"/>
              </a:rPr>
              <a:t>Aditya Rana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138927"/>
            <a:ext cx="6858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Roll No: I045  |  Computer Vision Pipeline, Model Benchmarking &amp;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559552"/>
            <a:ext cx="777240" cy="329184"/>
          </a:xfrm>
          <a:prstGeom prst="roundRect">
            <a:avLst>
              <a:gd name="adj" fmla="val 20000"/>
            </a:avLst>
          </a:prstGeom>
          <a:solidFill>
            <a:srgbClr val="18253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0527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55955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"/>
              </a:rPr>
              <a:t>Parth Surve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577840"/>
            <a:ext cx="6858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Roll No: I062  |  Classical CV Morphology, Zone Scoring &amp; Algorithm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989320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22D3EE"/>
                </a:solidFill>
                <a:latin typeface="Segoe UI"/>
              </a:rPr>
              <a:t>Department of Electronics &amp; Telecommunication / Computer Engineering  •  NMIMS MPSTME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The Computer Vision Problem — Negative Obstacles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Why acoustic and active sensors fail completely, making high-speed vision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3529583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Segoe UI"/>
              </a:rPr>
              <a:t>01  Acoustic &amp; LiDAR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3246120" cy="320039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50">
                <a:solidFill>
                  <a:srgbClr val="F87171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Horizontal Propagation: </a:t>
            </a:r>
            <a:r>
              <a:rPr sz="1150">
                <a:solidFill>
                  <a:srgbClr val="F1F5F9"/>
                </a:solidFill>
                <a:latin typeface="Segoe UI"/>
              </a:rPr>
              <a:t>Ultrasonic sensors (HC-SR04P) and 2D planar LiDARs emit beams parallel to the ground.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87171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Zero Return Reflection: </a:t>
            </a:r>
            <a:r>
              <a:rPr sz="1150">
                <a:solidFill>
                  <a:srgbClr val="F1F5F9"/>
                </a:solidFill>
                <a:latin typeface="Segoe UI"/>
              </a:rPr>
              <a:t>When encountering a pothole or road cavity, waves travel straight over the depression.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87171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Catastrophic False Clear: </a:t>
            </a:r>
            <a:r>
              <a:rPr sz="1150">
                <a:solidFill>
                  <a:srgbClr val="F1F5F9"/>
                </a:solidFill>
                <a:latin typeface="Segoe UI"/>
              </a:rPr>
              <a:t>Sensors report 'path clear' (infinite distance); the vehicle drives directly into the cavity.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435607"/>
            <a:ext cx="54864" cy="35295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02  Indian Roadway Cavities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46120" cy="320039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High Cavity Frequency: </a:t>
            </a:r>
            <a:r>
              <a:rPr sz="1150">
                <a:solidFill>
                  <a:srgbClr val="F1F5F9"/>
                </a:solidFill>
                <a:latin typeface="Segoe UI"/>
              </a:rPr>
              <a:t>Indian roads feature complex D40 pothole fractures, irregular gravel margins, and deep ruts.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Chassis &amp; Wheel Damage: </a:t>
            </a:r>
            <a:r>
              <a:rPr sz="1150">
                <a:solidFill>
                  <a:srgbClr val="F1F5F9"/>
                </a:solidFill>
                <a:latin typeface="Segoe UI"/>
              </a:rPr>
              <a:t>Negative obstacles inflict severe mechanical shock, bent wheel axles, and chassis rollover.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Lighting Variations: </a:t>
            </a:r>
            <a:r>
              <a:rPr sz="1150">
                <a:solidFill>
                  <a:srgbClr val="F1F5F9"/>
                </a:solidFill>
                <a:latin typeface="Segoe UI"/>
              </a:rPr>
              <a:t>Sharp sunlight, tree shadows, and wet asphalt disguise cavity depth, causing false negatives.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35607"/>
            <a:ext cx="54864" cy="352958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03  The Computer Vision Mandate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01368"/>
            <a:ext cx="3246120" cy="320039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50">
                <a:solidFill>
                  <a:srgbClr val="34D399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Sole Reliable Modality: </a:t>
            </a:r>
            <a:r>
              <a:rPr sz="1150">
                <a:solidFill>
                  <a:srgbClr val="F1F5F9"/>
                </a:solidFill>
                <a:latin typeface="Segoe UI"/>
              </a:rPr>
              <a:t>Passive optical vision is the only sensor capable of perceiving surface texture depressions.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34D399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Edge Speed Requirement: </a:t>
            </a:r>
            <a:r>
              <a:rPr sz="1150">
                <a:solidFill>
                  <a:srgbClr val="F1F5F9"/>
                </a:solidFill>
                <a:latin typeface="Segoe UI"/>
              </a:rPr>
              <a:t>Must run at &gt;30 FPS on embedded edge CPUs to detect cavities 1–2 meters ahead.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34D399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Autonomous Swerving: </a:t>
            </a:r>
            <a:r>
              <a:rPr sz="1150">
                <a:solidFill>
                  <a:srgbClr val="F1F5F9"/>
                </a:solidFill>
                <a:latin typeface="Segoe UI"/>
              </a:rPr>
              <a:t>Detection must output directional evasion vectors, not merely passive bounding box labels.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57800"/>
            <a:ext cx="11100816" cy="100584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0" i="0">
                <a:solidFill>
                  <a:srgbClr val="F1F5F9"/>
                </a:solidFill>
                <a:latin typeface="Segoe UI"/>
              </a:rPr>
              <a:t>Core Project Objective: Engineer an edge computer vision pipeline fusing deep learning (RDD2022 Pothole Specialist) with classical spatial Laplacian gradients to detect road cavities in &lt;25 ms, dynamically partition drivable corridors, and actuate collision-free directional swerve avoidance.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Implementation Pipeline — Computer Vision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Camera Feed  →  Spatial Pre-Processing  →  Dual-Modality Detection  →  Corridor Scorer  →  Swerve Arbiter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92024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STAGE 1
Image Ingest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CSI Camera Module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(OmniVision OV5647)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640×480 Raw RGB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30 FPS Stream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Daylight AWB Tuning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(Zero color cast)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Fixed 45° Pitch Angle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(Optimized for road)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3657600"/>
            <a:ext cx="27432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463040"/>
            <a:ext cx="192024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STAGE 2
Pre-Processing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ROI Extraction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(Bottom 55% of frame)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Rejects sky / horizon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and irrelevant scenery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Bilinear Resizing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to 320×320 pixels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FP16 Float Normalise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(0.0 to 1.0 range)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ARM NEON SIMD prep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663440" y="2103120"/>
            <a:ext cx="274320" cy="4572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4754880"/>
            <a:ext cx="274320" cy="4572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37760" y="146304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50" b="1">
                <a:solidFill>
                  <a:srgbClr val="F59E0B"/>
                </a:solidFill>
                <a:latin typeface="Segoe UI"/>
              </a:rPr>
              <a:t>STAGE 3A: DEEP MODEL
RDD2022 Pothole + YOLO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Custom YOLOv10n (D40 class)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50 epochs on India RDD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Dual-label assignment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Zero-NMS overhead on CPU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22.4 ms inference (31.6 FPS)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84048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50" b="1">
                <a:solidFill>
                  <a:srgbClr val="A78BFA"/>
                </a:solidFill>
                <a:latin typeface="Segoe UI"/>
              </a:rPr>
              <a:t>STAGE 3B: CLASSICAL CV
Laplacian Edge Morphology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5×5 Gaussian Blur filter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Laplacian ∇²f gradient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13×13 Elliptical Closing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Cavity contour filtering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&lt; 3.8 ms deterministic run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23760" y="2468880"/>
            <a:ext cx="274319" cy="8229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23760" y="4023360"/>
            <a:ext cx="274319" cy="8229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79" y="1463040"/>
            <a:ext cx="201168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34D399"/>
                </a:solidFill>
                <a:latin typeface="Segoe UI"/>
              </a:rPr>
              <a:t>STAGE 4
Corridor Scorer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3-Zone Spatial Grid: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- Left (0–33%)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- Center (33–66%)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- Right (66–100%)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Hazard Danger Formula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Pothole Penalty: W=1.5×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Obstacle Penalty: W=1.0×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Real-time zone costs: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[Cost_L, Cost_C, Cost_R]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60" y="3657600"/>
            <a:ext cx="27432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84080" y="1463040"/>
            <a:ext cx="182880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87171"/>
                </a:solidFill>
                <a:latin typeface="Segoe UI"/>
              </a:rPr>
              <a:t>STAGE 5
Swerve Arbiter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Directional Avoidance: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Center &gt; 0.5 &amp; Left &lt; Right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→ &lt;&lt; SWERVE LEFT &gt;&gt;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Center &gt; 0.5 &amp; Right &lt; Left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→ &lt;&lt; SWERVE RIGHT &gt;&gt;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All Zones Blocked (&gt;0.8)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→ EMERGENCY STOP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Outputs to Motor Spine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Models and Algorithms Used in the Vision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Mathematical formulations, neural architectures, and classical spatial filtering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22037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01  RDD2022 Pothole Specialist (D40)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3246120" cy="18745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Neural Backbone: </a:t>
            </a:r>
            <a:r>
              <a:rPr sz="1100">
                <a:solidFill>
                  <a:srgbClr val="F1F5F9"/>
                </a:solidFill>
                <a:latin typeface="Segoe UI"/>
              </a:rPr>
              <a:t>YOLOv10n with Dual-Label Assignment (One-to-Many + One-to-One heads).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Specialized Training: </a:t>
            </a:r>
            <a:r>
              <a:rPr sz="1100">
                <a:solidFill>
                  <a:srgbClr val="F1F5F9"/>
                </a:solidFill>
                <a:latin typeface="Segoe UI"/>
              </a:rPr>
              <a:t>Fine-tuned 50 epochs on Road Damage Dataset (RDD2022 India subset, Class D40).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NMS Elimination: </a:t>
            </a:r>
            <a:r>
              <a:rPr sz="1100">
                <a:solidFill>
                  <a:srgbClr val="F1F5F9"/>
                </a:solidFill>
                <a:latin typeface="Segoe UI"/>
              </a:rPr>
              <a:t>One-to-one prediction head directly yields candidate bounding boxes with zero CPU NMS sorting.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5661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435607"/>
            <a:ext cx="54864" cy="2203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02  Classical Spatial Laplacian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46120" cy="18745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Mathematical Operator: </a:t>
            </a:r>
            <a:r>
              <a:rPr sz="1100">
                <a:solidFill>
                  <a:srgbClr val="F1F5F9"/>
                </a:solidFill>
                <a:latin typeface="Segoe UI"/>
              </a:rPr>
              <a:t>Second-order isotropic derivative: ∇²f(x,y) = ∂²f/∂x² + ∂²f/∂y².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Cavity Edge Detection: </a:t>
            </a:r>
            <a:r>
              <a:rPr sz="1100">
                <a:solidFill>
                  <a:srgbClr val="F1F5F9"/>
                </a:solidFill>
                <a:latin typeface="Segoe UI"/>
              </a:rPr>
              <a:t>Isolates abrupt intensity transitions between asphalt surface and internal cavity shadows.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Deterministic Latency: </a:t>
            </a:r>
            <a:r>
              <a:rPr sz="1100">
                <a:solidFill>
                  <a:srgbClr val="F1F5F9"/>
                </a:solidFill>
                <a:latin typeface="Segoe UI"/>
              </a:rPr>
              <a:t>Executes in &lt; 3.8 ms on Cortex-A76 CPU; zero risk of neural hallucination.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5661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35607"/>
            <a:ext cx="54864" cy="22037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Segoe UI"/>
              </a:rPr>
              <a:t>03  Elliptical Morphological Closing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01368"/>
            <a:ext cx="3246120" cy="18745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A78BFA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Mathematical Formulation: </a:t>
            </a:r>
            <a:r>
              <a:rPr sz="1100">
                <a:solidFill>
                  <a:srgbClr val="F1F5F9"/>
                </a:solidFill>
                <a:latin typeface="Segoe UI"/>
              </a:rPr>
              <a:t>Dilation followed by erosion: A • B = (A ⊕ B) ⊖ B.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A78BFA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Structuring Element: </a:t>
            </a:r>
            <a:r>
              <a:rPr sz="1100">
                <a:solidFill>
                  <a:srgbClr val="F1F5F9"/>
                </a:solidFill>
                <a:latin typeface="Segoe UI"/>
              </a:rPr>
              <a:t>13×13 elliptical kernel matching characteristic oval roadway pothole fractures.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A78BFA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Contour Extraction: </a:t>
            </a:r>
            <a:r>
              <a:rPr sz="1100">
                <a:solidFill>
                  <a:srgbClr val="F1F5F9"/>
                </a:solidFill>
                <a:latin typeface="Segoe UI"/>
              </a:rPr>
              <a:t>Fuses fragmented gradient boundaries into closed, flood-fillable cavity candidate blobs.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95928"/>
            <a:ext cx="54864" cy="224942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04  YOLOv10n Obstacle Detection (Positive Obstacles)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61688"/>
            <a:ext cx="5074920" cy="1920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Multi-Class Awareness: </a:t>
            </a:r>
            <a:r>
              <a:rPr sz="1100">
                <a:solidFill>
                  <a:srgbClr val="F1F5F9"/>
                </a:solidFill>
                <a:latin typeface="Segoe UI"/>
              </a:rPr>
              <a:t>Simultaneously identifies positive roadway hazards (pedestrians, vehicles, barriers, debris).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Model Efficiency: </a:t>
            </a:r>
            <a:r>
              <a:rPr sz="1100">
                <a:solidFill>
                  <a:srgbClr val="F1F5F9"/>
                </a:solidFill>
                <a:latin typeface="Segoe UI"/>
              </a:rPr>
              <a:t>2.3 Million parameters, 6.7 GFLOPs; exported to Tencent NCNN FP16 with operator fusion.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SIMD Parallelism: </a:t>
            </a:r>
            <a:r>
              <a:rPr sz="1100">
                <a:solidFill>
                  <a:srgbClr val="F1F5F9"/>
                </a:solidFill>
                <a:latin typeface="Segoe UI"/>
              </a:rPr>
              <a:t>ARM NEON 128-bit vector instructions process four 32-bit floats per CPU cycle.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3995928"/>
            <a:ext cx="54864" cy="22494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995928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05  Dynamic 3-Zone Corridor Risk Scoring Algorithm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361688"/>
            <a:ext cx="5074920" cy="1920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Zone Danger Cost: </a:t>
            </a:r>
            <a:r>
              <a:rPr sz="1100">
                <a:solidFill>
                  <a:srgbClr val="F1F5F9"/>
                </a:solidFill>
                <a:latin typeface="Segoe UI"/>
              </a:rPr>
              <a:t>Danger_z = Σ [ conf_i · W_type · (0.4 + min(Area_box / Area_zone, 0.5)) ].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Asymmetric Weighting: </a:t>
            </a:r>
            <a:r>
              <a:rPr sz="1100">
                <a:solidFill>
                  <a:srgbClr val="F1F5F9"/>
                </a:solidFill>
                <a:latin typeface="Segoe UI"/>
              </a:rPr>
              <a:t>W_obstacle = 1.0  |  W_pothole = 1.5–2.0 (elevated hazard penalty due to structural risk).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Swerve Decision Function: </a:t>
            </a:r>
            <a:r>
              <a:rPr sz="1100">
                <a:solidFill>
                  <a:srgbClr val="F1F5F9"/>
                </a:solidFill>
                <a:latin typeface="Segoe UI"/>
              </a:rPr>
              <a:t>argmin_{z ∈ {Left, Right}} (Danger_z) subject to Danger_z &lt; 0.40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Role of Models and Algorithms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Clear allocation of computer vision tasks, algorithmic responsibilities, and fallback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5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100816" cy="4297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3108960"/>
                <a:gridCol w="2286000"/>
                <a:gridCol w="1554480"/>
                <a:gridCol w="2231136"/>
              </a:tblGrid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Model / Algorithm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Specific Operational Role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Mechanism / Formula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Latency Budget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Failure Fallback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RDD2022 Pothole Model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Detects negative roadway cavities and fractured pothole boundaries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Dual-label YOLOv10n (D40)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18.2 ms (54.9 FPS)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Classical Laplacian CV detector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Classical Laplacian CV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Extracts spatial intensity gradients at cavity margins in &lt;4ms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∇²f = ∂²f/∂x² + ∂²f/∂y²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3.8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Maintain previous lane center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Morphological Closing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Bridges fragmented edge pixels into continuous cavity contours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(A ⊕ B) ⊖ B (13×13 ellipse)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1.5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Area threshold gating (&gt;800 px)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YOLOv10n Obstacle Model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Detects positive collision hazards (pedestrians, vehicles, obstacles)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One-to-one prediction head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22.4 ms (31.6 FPS)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Local ultrasonic safety reflex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Corridor Risk Scorer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Calculates dynamic collision danger across Left, Center, Right paths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Danger_z = Σ [conf·W·Area_norm]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0.8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Emergency Stop (PI_STOP)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</a:tr>
              <a:tr h="61395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Swerve Direction Arbiter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Selects optimal evasion trajectory (&lt;&lt; SWERVE L/R &gt;&gt; or STOP)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argmin(Danger_Left, Danger_Right)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0.2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Immediate straight-line brake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715000"/>
            <a:ext cx="11100816" cy="68580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79008"/>
            <a:ext cx="106070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Segoe UI"/>
              </a:rPr>
              <a:t>Role Synergy: The deep neural model provides high-level contextual semantic recognition (distinguishing a dark shadow from a real pothole), while classical Laplacian morphology provides sub-4ms spatial boundary confirmation.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Inputs — Raw Camera Roadway Imagery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Unprocessed optical sensor feed showing Indian asphalt road texture and pothole depression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21792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585215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INPUT 1: Raw Roadway Camera Capture (640×480 RGB)</a:t>
            </a:r>
          </a:p>
        </p:txBody>
      </p:sp>
      <p:pic>
        <p:nvPicPr>
          <p:cNvPr id="10" name="Picture 9" descr="screenshot_input_ra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59436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Raw video frame (pothole_test_2.mp4, Frame #201) under ambient daylight; reveals unpaved roadway cavity in vehicle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25880"/>
            <a:ext cx="4700016" cy="4892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1435607"/>
            <a:ext cx="54864" cy="4672583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435607"/>
            <a:ext cx="4379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Input Sensor Specification &amp; Optics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01368"/>
            <a:ext cx="4379976" cy="4343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Sensor Hardware: </a:t>
            </a:r>
            <a:r>
              <a:rPr sz="1100">
                <a:solidFill>
                  <a:srgbClr val="F1F5F9"/>
                </a:solidFill>
                <a:latin typeface="Segoe UI"/>
              </a:rPr>
              <a:t>Raspberry Pi Camera Module (OmniVision OV5647) via 2-lane MIPI CSI-2 bus.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Raw Resolution: </a:t>
            </a:r>
            <a:r>
              <a:rPr sz="1100">
                <a:solidFill>
                  <a:srgbClr val="F1F5F9"/>
                </a:solidFill>
                <a:latin typeface="Segoe UI"/>
              </a:rPr>
              <a:t>640 × 480 pixels @ 30 FPS, uncompressed RGB888 format.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Optics &amp; Angle: </a:t>
            </a:r>
            <a:r>
              <a:rPr sz="1100">
                <a:solidFill>
                  <a:srgbClr val="F1F5F9"/>
                </a:solidFill>
                <a:latin typeface="Segoe UI"/>
              </a:rPr>
              <a:t>Wide-angle lens with 62.2° horizontal FOV, pitched downward at 45° toward the roadway floor.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Daylight AWB Profile: </a:t>
            </a:r>
            <a:r>
              <a:rPr sz="1100">
                <a:solidFill>
                  <a:srgbClr val="F1F5F9"/>
                </a:solidFill>
                <a:latin typeface="Segoe UI"/>
              </a:rPr>
              <a:t>Tuned red/blue gains (rg=1.5, bg=2.0) eliminating artificial indoor fluorescent color casts.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Real-World Visual Difficulties: 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1. Uneven asphalt road texturing and loose gravel noise.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2. Harsh ambient sunlight causing high-contrast ground glare.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3. Low contrast between cavity interior and surrounding tarmac.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4. Absence of painted road lane lines or structured markers.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Intermediate Outputs — Classical CV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Step-by-step mathematical transformations: ROI isolation, Laplacian gradients, morphological closing, and corridor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8640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51206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INTERMEDIATE 1: 4-Stage Classical CV Transformations</a:t>
            </a:r>
          </a:p>
        </p:txBody>
      </p:sp>
      <p:pic>
        <p:nvPicPr>
          <p:cNvPr id="10" name="Picture 9" descr="screenshot_intermediate_cv_ste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52120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52120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1. Road ROI (Bottom 55%)  •  2. Laplacian Gradient Map (∇²f)  •  3. 13×13 Morphological Closing  •  4. Cavity Contour BBoxes.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325880"/>
            <a:ext cx="539496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1656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435607"/>
            <a:ext cx="5029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INTERMEDIATE 2: Corridor Zone Partitioning &amp; Risk Costs</a:t>
            </a:r>
          </a:p>
        </p:txBody>
      </p:sp>
      <p:pic>
        <p:nvPicPr>
          <p:cNvPr id="15" name="Picture 14" descr="screenshot_intermediate_edg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764792"/>
            <a:ext cx="5120640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91656" y="596188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Left Zone [Cost: 0.12 - CLEAR]  •  Center Zone [Cost: 0.88 - BLOCKED]  •  Right Zone [Cost: 0.15 - CLEAR].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Outputs — Pothole Cavity Detection &amp; Swerve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Real-time D40 cavity bounding box detection, corridor risk scoring, and automated &lt;&lt; SWERVE LEFT &gt;&gt;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8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40080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60350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FINAL OUTPUT 1: Real Pothole D40 Detection &amp; Swerve Command</a:t>
            </a:r>
          </a:p>
        </p:txBody>
      </p:sp>
      <p:pic>
        <p:nvPicPr>
          <p:cNvPr id="10" name="Picture 9" descr="slide07_pothole_corridor_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61264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6126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Frame #201: Center pothole detected (Conf: 0.68) → Center corridor marked BLOCKED → Issues immediate &lt;&lt; SWERVE LEFT &gt;&gt; actuation vector.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25880"/>
            <a:ext cx="4517136" cy="4892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435607"/>
            <a:ext cx="54864" cy="46725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435607"/>
            <a:ext cx="419709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Detection &amp; Avoidance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01368"/>
            <a:ext cx="4197096" cy="4343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Bounding Box Output: </a:t>
            </a:r>
            <a:r>
              <a:rPr sz="1100">
                <a:solidFill>
                  <a:srgbClr val="F1F5F9"/>
                </a:solidFill>
                <a:latin typeface="Segoe UI"/>
              </a:rPr>
              <a:t>Coordinates [x1: 215, y1: 290, x2: 430, y2: 440], area = 32,250 px².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Class Label: </a:t>
            </a:r>
            <a:r>
              <a:rPr sz="1100">
                <a:solidFill>
                  <a:srgbClr val="F1F5F9"/>
                </a:solidFill>
                <a:latin typeface="Segoe UI"/>
              </a:rPr>
              <a:t>POTHOLE (RDD2022 Class D40) with 68% confidence score.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Zone Evaluation: 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• Left Corridor Cost: 0.12 (CLEAR)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• Center Corridor Cost: 0.88 (BLOCKED — Pothole detected)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• Right Corridor Cost: 0.15 (CLEAR)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Actuation Command: </a:t>
            </a:r>
            <a:r>
              <a:rPr sz="1100">
                <a:solidFill>
                  <a:srgbClr val="F1F5F9"/>
                </a:solidFill>
                <a:latin typeface="Segoe UI"/>
              </a:rPr>
              <a:t>&lt;&lt; SWERVE LEFT &gt;&gt; generated instantly.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Vehicle Response: </a:t>
            </a:r>
            <a:r>
              <a:rPr sz="1100">
                <a:solidFill>
                  <a:srgbClr val="F1F5F9"/>
                </a:solidFill>
                <a:latin typeface="Segoe UI"/>
              </a:rPr>
              <a:t>Arduino executes differential skid-steer: Left motors 180 PWM, Right motors 220 PWM for 450 ms, steering into the safe left lane.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End-to-End Latency: </a:t>
            </a:r>
            <a:r>
              <a:rPr sz="1100">
                <a:solidFill>
                  <a:srgbClr val="F1F5F9"/>
                </a:solidFill>
                <a:latin typeface="Segoe UI"/>
              </a:rPr>
              <a:t>Perception (22.4 ms) + Zone Scoring (0.8 ms) + Serial TX (1.2 ms) = 24.4 ms total response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Outputs — Live Perception HUD &amp; Obstacle Sensing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Multi-class obstacle bounding boxes, class tallies, 22.4 ms latency overlay, and 31.6 FPS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40080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60350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FINAL OUTPUT 2: Live Perception HUD &amp; Latency Telemetry</a:t>
            </a:r>
          </a:p>
        </p:txBody>
      </p:sp>
      <p:pic>
        <p:nvPicPr>
          <p:cNvPr id="10" name="Picture 9" descr="slide12_yolov10n_live_hu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61264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6126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Live evaluation overlay (tools/live_detect.py) showing obstacle bounding boxes, class counts, 22.4ms latency counter, and 31.6 FPS throughput.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25880"/>
            <a:ext cx="4517136" cy="4892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435607"/>
            <a:ext cx="54864" cy="4672583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435607"/>
            <a:ext cx="419709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Obstacle Detection HUD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01368"/>
            <a:ext cx="4197096" cy="4343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Positive Obstacles: </a:t>
            </a:r>
            <a:r>
              <a:rPr sz="1100">
                <a:solidFill>
                  <a:srgbClr val="F1F5F9"/>
                </a:solidFill>
                <a:latin typeface="Segoe UI"/>
              </a:rPr>
              <a:t>Simultaneously tracks vehicles, pedestrians, roadway debris, and stationary hazards.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Telemetry Counter: </a:t>
            </a:r>
            <a:r>
              <a:rPr sz="1100">
                <a:solidFill>
                  <a:srgbClr val="F1F5F9"/>
                </a:solidFill>
                <a:latin typeface="Segoe UI"/>
              </a:rPr>
              <a:t>Hardware timer displays exact per-frame inference latency: 22.4 ms.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Frame Rate: </a:t>
            </a:r>
            <a:r>
              <a:rPr sz="1100">
                <a:solidFill>
                  <a:srgbClr val="F1F5F9"/>
                </a:solidFill>
                <a:latin typeface="Segoe UI"/>
              </a:rPr>
              <a:t>Sustained 31.6 FPS throughput on bare Raspberry Pi 5 CPU cores.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Confidence Threshold: </a:t>
            </a:r>
            <a:r>
              <a:rPr sz="1100">
                <a:solidFill>
                  <a:srgbClr val="F1F5F9"/>
                </a:solidFill>
                <a:latin typeface="Segoe UI"/>
              </a:rPr>
              <a:t>Calibrated to 0.40 to prevent false-positive alarms while maintaining high recall.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Serial Telemetry Output: </a:t>
            </a:r>
            <a:r>
              <a:rPr sz="1100">
                <a:solidFill>
                  <a:srgbClr val="F1F5F9"/>
                </a:solidFill>
                <a:latin typeface="Segoe UI"/>
              </a:rPr>
              <a:t>Real-time ASCII status transmitted over USB-Serial to Arduino motor controller at 115200 baud.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Dual Awareness: </a:t>
            </a:r>
            <a:r>
              <a:rPr sz="1100">
                <a:solidFill>
                  <a:srgbClr val="F1F5F9"/>
                </a:solidFill>
                <a:latin typeface="Segoe UI"/>
              </a:rPr>
              <a:t>Car avoids driving into potholes while simultaneously steering clear of pedestrian and vehicular obstacles.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Performance Evaluation — Training Curves &amp; Edge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Rigorous hardware measurements on Raspberry Pi 5 across multiple runtimes, resolutions, and thermals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Edge Inference Latency &amp; Throughput (320×320, Pi 5 CPU)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5669280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731520"/>
                <a:gridCol w="914400"/>
                <a:gridCol w="822960"/>
                <a:gridCol w="73152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Runtime Format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Avg Latency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Median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FPS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NMS Cost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PyTorch (LibTorch)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FP32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148.2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146.0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6.7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ONNX Runtime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FP32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64.8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63.5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15.4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0.0 ms (NMS-free)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1F5F9"/>
                          </a:solidFill>
                          <a:latin typeface="Segoe UI"/>
                        </a:rPr>
                        <a:t>Tencent NCNN (Ours)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FP16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22.4 ms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22.1 ms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31.6 FPS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0.0 ms (ARM NEON)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Intel OpenVINO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FP16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38.5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37.9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26.0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0.0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Resolution Sweep &amp; Classical CV Latency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41648"/>
          <a:ext cx="5669280" cy="1691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731520"/>
                <a:gridCol w="914400"/>
                <a:gridCol w="1005840"/>
                <a:gridCol w="146304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Method / Resolution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GFLOPs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Latency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Throughput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Operational Role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YOLOv10n (640×640)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72.4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13.8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Distant cavity scanning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YOLOv10n (480×480)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3.8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41.6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24.0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Balanced edge mode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F1F5F9"/>
                          </a:solidFill>
                          <a:latin typeface="Segoe UI"/>
                        </a:rPr>
                        <a:t>YOLOv10n (320×320)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1.7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22.4 ms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31.6 FPS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Real-time control loop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Classical Laplacian CV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&lt; 3.8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260+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Instant boundary fallback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92240" y="132588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435607"/>
            <a:ext cx="475487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RDD2022 Pothole Model Training Curves (50 Epochs)</a:t>
            </a:r>
          </a:p>
        </p:txBody>
      </p:sp>
      <p:pic>
        <p:nvPicPr>
          <p:cNvPr id="14" name="Picture 13" descr="slide07_pothole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64792"/>
            <a:ext cx="4846320" cy="3703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458968"/>
            <a:ext cx="48463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Precision: 54.0%, Recall: 28.5%, mAP@50: 25.2% on challenging Indian road cavity subset.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33872"/>
            <a:ext cx="11100816" cy="59436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07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Thermal &amp; Memory Metrics: Raspberry Pi 5 maintained 52.7°C steady-state under continuous dual-model inference. RAM footprint: &lt; 340 MB total memory. Classical CV executes in &lt; 3.8 ms, providing an instant backup.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Contribution: Novel Revisions Not Available in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Key algorithmic, architectural, and mathematical contributions developed specifically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3949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22037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Segoe UI"/>
              </a:rPr>
              <a:t>01  Dual-Path Negative Obstacle Sensing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5074920" cy="18745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Existing literature relies either solely on acoustic/LiDAR sensors (blind to potholes) or heavy monolithic deep models that fail under motion blur.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Novel fusion coupling a fine-tuned RDD2022 D40 neural detector with a sub-4ms classical Laplacian gradient morphology fallback.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Guarantees zero negative-obstacle blind spots with instantaneous cavity boundary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325880"/>
            <a:ext cx="53949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435607"/>
            <a:ext cx="54864" cy="2203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435607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22D3EE"/>
                </a:solidFill>
                <a:latin typeface="Segoe UI"/>
              </a:rPr>
              <a:t>02  NMS-Free Edge CPU Inference for Ground Cavities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801368"/>
            <a:ext cx="5074920" cy="18745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22D3EE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Standard road damage models (YOLOv5/v8) require heavy CPU Non-Maximum Suppression, dropping edge framerates below 15 FPS.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22D3EE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First implementation coupling dual-label assigned YOLOv10n with Tencent NCNN ARM NEON SIMD vectorization on Raspberry Pi 5 CPU.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22D3EE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Eliminates the O(N²) CPU post-processing bottleneck, achieving sustained 31.6 FPS without expensive GPU accelerators.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95928"/>
            <a:ext cx="54864" cy="224942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95928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34D399"/>
                </a:solidFill>
                <a:latin typeface="Segoe UI"/>
              </a:rPr>
              <a:t>03  Dynamic Corridor Scoring with Asymmetric Weighting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61688"/>
            <a:ext cx="5074920" cy="1920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34D399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Standard collision avoidance models treat all obstacles identically, underestimating the catastrophic vehicle rollover risk of road depressions.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34D399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Formulated an asymmetric hazard scoring formula penalizing negative obstacles (potholes) by 1.5×–2.0× relative to positive obstacles.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34D399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Vehicle proactively swerves away from road cavities even when minor positive obstacles exist in adjacent corridors.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3995928"/>
            <a:ext cx="54864" cy="224942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995928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A78BFA"/>
                </a:solidFill>
                <a:latin typeface="Segoe UI"/>
              </a:rPr>
              <a:t>04  Direct Vision-to-Swerve Actuation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361688"/>
            <a:ext cx="5074920" cy="1920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A78BFA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Robotics platforms mandate expensive 3D LiDAR SLAM costmaps (costing ₹50,000+) to compute local vehicle swerve vectors.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A78BFA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Direct camera-to-skid-steer swerve translation: corridor risk costs map directly to differential motor PWM duty cycles.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A78BFA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Realizes autonomous obstacle swerving under ₹8,000 total hardware budget using modular educational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Comparative Literature Benchmark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Benchmarking our vision system against leading road damage and obstacle detection architectures in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12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100816" cy="4297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1828800"/>
                <a:gridCol w="2011680"/>
                <a:gridCol w="1188720"/>
                <a:gridCol w="1737360"/>
                <a:gridCol w="1097280"/>
                <a:gridCol w="1133856"/>
              </a:tblGrid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System / Architecture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Compute Target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Pothole Model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NMS Step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Classical CV Fallback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Framerate (FPS)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Negative Obstacle Evasion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1F5F9"/>
                          </a:solidFill>
                          <a:latin typeface="Segoe UI"/>
                        </a:rPr>
                        <a:t>Our CV System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Raspberry Pi 5 (CPU)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YOLOv10n (RDD2022 D40)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None (0 ms)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(Laplacian CV &lt;4ms)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31.6 FPS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(Directional Swerve)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Arya et al. (RDD2020)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NVIDIA RTX 2080 Ti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YOLOv4 / Faster R-CNN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(Heavy NMS)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(Deep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12.0 FPS (Edge)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(Offline labeling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NVIDIA JetBot Platform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Jetson Nano GPU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SSD-MobileNetV2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(CPU sort)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18.5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(Acoustically blind)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Ma et al. (Pothole CV)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Desktop Intel i7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Modified Otsu + Canny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(Thresholding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22.0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(Static images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Hiwonder MentorPi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Raspberry Pi 5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YOLOv5s (PyTorch)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(Slow NMS)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11.2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(2D planar LiDAR only)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715000"/>
            <a:ext cx="11100816" cy="68580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79008"/>
            <a:ext cx="106070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Segoe UI"/>
              </a:rPr>
              <a:t>Comparative Takeaway: Unlike academic literature that focuses purely on offline dataset evaluation or commercial kits that ignore negative obstacles, our system achieves real-time edge execution (31.6 FPS) with active directional swerving.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Summary, Conclusions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Key achievements of the CV mini project and strategic extensions for complete autonomous driving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398678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01  Verified CV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3246120" cy="365759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Real-Time Throughput: </a:t>
            </a:r>
            <a:r>
              <a:rPr sz="1100">
                <a:solidFill>
                  <a:srgbClr val="F1F5F9"/>
                </a:solidFill>
                <a:latin typeface="Segoe UI"/>
              </a:rPr>
              <a:t>Sustained 31.6 FPS on edge CPU via Tencent NCNN FP16 with zero NMS overhead.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Dual-Path Cavity Detection: </a:t>
            </a:r>
            <a:r>
              <a:rPr sz="1100">
                <a:solidFill>
                  <a:srgbClr val="F1F5F9"/>
                </a:solidFill>
                <a:latin typeface="Segoe UI"/>
              </a:rPr>
              <a:t>High-recall detection of RDD2022 D40 road cavities backed by sub-4ms Laplacian gradients.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Autonomous Swerving: </a:t>
            </a:r>
            <a:r>
              <a:rPr sz="1100">
                <a:solidFill>
                  <a:srgbClr val="F1F5F9"/>
                </a:solidFill>
                <a:latin typeface="Segoe UI"/>
              </a:rPr>
              <a:t>Dynamic corridor risk scoring successfully executes &lt;&lt; SWERVE LEFT &gt;&gt; and &lt;&lt; SWERVE RIGHT &gt;&gt; maneuvers.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Positive Obstacle Sensing: </a:t>
            </a:r>
            <a:r>
              <a:rPr sz="1100">
                <a:solidFill>
                  <a:srgbClr val="F1F5F9"/>
                </a:solidFill>
                <a:latin typeface="Segoe UI"/>
              </a:rPr>
              <a:t>Simultaneous tracking of pedestrians, vehicles, and barriers on the roadway.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435607"/>
            <a:ext cx="54864" cy="3986783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02  Immediate CV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46120" cy="365759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LAB Lane Following: </a:t>
            </a:r>
            <a:r>
              <a:rPr sz="1100">
                <a:solidFill>
                  <a:srgbClr val="F1F5F9"/>
                </a:solidFill>
                <a:latin typeface="Segoe UI"/>
              </a:rPr>
              <a:t>Multi-ROI road lane line segmentation in LAB color space; heading error θ = arctan(dx/dy).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Traffic Sign Classifier: </a:t>
            </a:r>
            <a:r>
              <a:rPr sz="1100">
                <a:solidFill>
                  <a:srgbClr val="F1F5F9"/>
                </a:solidFill>
                <a:latin typeface="Segoe UI"/>
              </a:rPr>
              <a:t>6-class lightweight YOLO model (Speed Limit, Stop, Red/Green Signal, Crosswalk) with 5-frame debounce.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Stereo Vision Triangulation: </a:t>
            </a:r>
            <a:r>
              <a:rPr sz="1100">
                <a:solidFill>
                  <a:srgbClr val="F1F5F9"/>
                </a:solidFill>
                <a:latin typeface="Segoe UI"/>
              </a:rPr>
              <a:t>Adding a second camera to compute dense depth disparity maps for precise cavity millimeter depth profiling.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35607"/>
            <a:ext cx="54864" cy="39867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435607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03  Hardware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01368"/>
            <a:ext cx="3246120" cy="365759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Low-Power Nano Migration: </a:t>
            </a:r>
            <a:r>
              <a:rPr sz="1100">
                <a:solidFill>
                  <a:srgbClr val="F1F5F9"/>
                </a:solidFill>
                <a:latin typeface="Segoe UI"/>
              </a:rPr>
              <a:t>Transitioning reflex motor spine to Arduino Nano for reduced chassis payload.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High-Efficiency Motor Driver: </a:t>
            </a:r>
            <a:r>
              <a:rPr sz="1100">
                <a:solidFill>
                  <a:srgbClr val="F1F5F9"/>
                </a:solidFill>
                <a:latin typeface="Segoe UI"/>
              </a:rPr>
              <a:t>Upgrading to TB6612FNG MOSFET driver to eliminate 2.0V BJT transistor saturation voltage drop.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Long-Range Optics: </a:t>
            </a:r>
            <a:r>
              <a:rPr sz="1100">
                <a:solidFill>
                  <a:srgbClr val="F1F5F9"/>
                </a:solidFill>
                <a:latin typeface="Segoe UI"/>
              </a:rPr>
              <a:t>Varifocal M12 lens to extend cavity detection range from 2 meters to 5 meters at high speeds.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Segoe UI"/>
              </a:rPr>
              <a:t>Academic Conclusion: Successfully proved that coupling lightweight NMS-free deep learning with classical spatial morphology provides a robust, high-speed solution to the negative obstacle problem on developing road infrastructures.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14 / 14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914400"/>
            <a:ext cx="5486400" cy="5029200"/>
          </a:xfrm>
          <a:prstGeom prst="ellipse">
            <a:avLst/>
          </a:prstGeom>
          <a:solidFill>
            <a:srgbClr val="0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737360"/>
            <a:ext cx="12191695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5200" b="1" i="0">
                <a:solidFill>
                  <a:srgbClr val="F1F5F9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Segoe UI"/>
              </a:rPr>
              <a:t>Questions &amp; Technical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F1F5F9"/>
                </a:solidFill>
                <a:latin typeface="Segoe UI"/>
              </a:rPr>
              <a:t>Krishna Menon (I028)   •   Aditya Rana (I045)   •   Parth Surve (I062)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50" b="0" i="0">
                <a:solidFill>
                  <a:srgbClr val="94A3B8"/>
                </a:solidFill>
                <a:latin typeface="Segoe UI"/>
              </a:rPr>
              <a:t>Computer Vision (CV) Mini Project  •  Department of EXTC / 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50" b="0" i="0">
                <a:solidFill>
                  <a:srgbClr val="94A3B8"/>
                </a:solidFill>
                <a:latin typeface="Segoe UI"/>
              </a:rPr>
              <a:t>NMIMS Mukesh Patel School of Technology Management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