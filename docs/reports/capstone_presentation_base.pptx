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pitch: a low-cost two-layer autonomous car that does person following, obstacle avoidance and pothole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1: Linux is not real-time; PWM and braking latency suffer under heavy inference. Gap 2: ultrasonic sensors cannot see potholes. Gap 3: commercial kits are expensive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 5 runs all vision and decision making. Arduino owns PWM, sonar timing and the reflex. If the Pi crashes, the Arduino watchdog stops the 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Older YOLOs output many overlapping boxes and need NMS on the CPU. YOLOv10 trains with dual label assignment and uses the one-to-one head at inference, so NMS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pillar briefly, then point at the benchmark screenshot comparing PyTorch, ONNX, NCNN and OpenVINO on the Pi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 across the Pi 5 row, down through the serial link, then right-to-left across the Arduino row. Emphasise that sonar feeds the Arduino directly, bypassing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A is the trained deep model; Path B is a fast classical fallback. Both feed the same zone scorer, with potholes weighted higher than normal obstacles.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KCF keeps the box between YOLO frames. If the target is lost, the car stops, YOLO finds candidates, and the HSV torso histogram picks the right person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1 always wins. Tier 2 reacts to sonar on the Arduino itself. Tier 3 executes the Pi's movement commands. Values below come from protocol.h / the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benchmark.py on the Pi 5 and copy the numbers here. Keep the screenshot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are taken from the comparative benchmarking report, section 2, with citations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script live. Use 'p' to pause on an interesting frame and explain the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Pothole integration on the live car, lane following, and traffic sign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-1371600"/>
            <a:ext cx="6400800" cy="6400800"/>
          </a:xfrm>
          <a:prstGeom prst="ellipse">
            <a:avLst/>
          </a:prstGeom>
          <a:solidFill>
            <a:srgbClr val="0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B.TECH CAPSTONE PROJECT  •  NMIMS MPSTME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E5E7EB"/>
                </a:solidFill>
                <a:latin typeface="Segoe UI"/>
              </a:rPr>
              <a:t>Autonomous Follow-Me &amp; Obstacle-Avoidant</a:t>
            </a:r>
          </a:p>
          <a:p>
            <a:pPr algn="l"/>
            <a:r>
              <a:rPr sz="4000" b="1" i="0">
                <a:solidFill>
                  <a:srgbClr val="E5E7EB"/>
                </a:solidFill>
                <a:latin typeface="Segoe UI"/>
              </a:rPr>
              <a:t>Robotic Vehicle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Two-Layer Architecture (Raspberry Pi 5 + Arduino Uno) with NMS-Free YOLOv10n on Tencent NCNN, Pothole Detection and Hard Real-Time Reflex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51960"/>
            <a:ext cx="14630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Segoe UI"/>
              </a:rPr>
              <a:t>Krishna Menon   •   Aditya Rana   •   Parth Surve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Guide: 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840480"/>
            <a:ext cx="3108960" cy="228600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Photo of the assembled car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Front 3/4 view, camera visible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Problem Statement &amp;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Why a single Linux board driving motors directly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4008" cy="33832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Segoe UI"/>
              </a:rPr>
              <a:t>01  Timing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87171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Linux CFS scheduler gives no real-time guarantees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87171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Software PWM jitters under heavy neural inference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87171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Camera → decision → motor loop is too slow for last-moment braking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7160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508760"/>
            <a:ext cx="64008" cy="3383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Segoe UI"/>
              </a:rPr>
              <a:t>02  Negative Obstacles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Ultrasonic waves travel horizontally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Potholes / drop-offs give no echo → reads as "path clear"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Indian roads make pothole awareness essential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508760"/>
            <a:ext cx="64008" cy="33832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03  Cost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938528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Commercial AI car kits are imported &amp; costly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Need a modular build from locally available parts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Re-use of college lab assets (Pi 5, Arduino, camera)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11100816" cy="914400"/>
          </a:xfrm>
          <a:prstGeom prst="roundRect">
            <a:avLst/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Segoe UI"/>
              </a:rPr>
              <a:t>Objective: decouple perception (Pi 5) from actuation (Arduino) so that vision can be heavy while braking and motor timing stay deterministic — and add camera-based pothole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System Architecture — The Two-Layer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Cognitive brain + reflexive spine, connected over USB serial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4206240" cy="301752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22D3EE"/>
                </a:solidFill>
                <a:latin typeface="Segoe UI"/>
              </a:rPr>
              <a:t>Raspberry Pi 5 (8 GB)  —  High-Level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Quad Cortex-A76 @ 2.4 GHz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/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CSI camera ingest (640×480)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YOLOv10n on Tencent NCNN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Pothole engine (RDD2022 YOLOv10n + CV)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KCF tracker + HSV re-ID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PID steering &amp; decision arbiter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4206240" cy="301752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34D399"/>
                </a:solidFill>
                <a:latin typeface="Segoe UI"/>
              </a:rPr>
              <a:t>Arduino Uno R3  —  Real-Time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ATmega328P @ 16 MHz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/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Hardware Timer0 PWM (D5 / D6)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2× HC-SR04P sonar, 2× IR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3-tier priority state machine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Local reflex avoidance (&lt; 20 cm)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• Watchdog failsafe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2514600"/>
            <a:ext cx="1920240" cy="0"/>
          </a:xfrm>
          <a:prstGeom prst="line">
            <a:avLst/>
          </a:prstGeom>
          <a:ln w="3175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846320" y="3154680"/>
            <a:ext cx="1920240" cy="0"/>
          </a:xfrm>
          <a:prstGeom prst="line">
            <a:avLst/>
          </a:prstGeom>
          <a:ln w="317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00600" y="201168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0">
                <a:solidFill>
                  <a:srgbClr val="22D3EE"/>
                </a:solidFill>
                <a:latin typeface="Segoe UI"/>
              </a:rPr>
              <a:t>DRIVE / TURN / PI_STOP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2461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Segoe UI"/>
              </a:rPr>
              <a:t>[TELEM] / [ACK]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974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 i="0">
                <a:solidFill>
                  <a:srgbClr val="E5E7EB"/>
                </a:solidFill>
                <a:latin typeface="Segoe UI"/>
              </a:rPr>
              <a:t>USB 115200 8N1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A78BFA"/>
                </a:solidFill>
                <a:latin typeface="Segoe UI"/>
              </a:rPr>
              <a:t>Logic Rail (isolated)</a:t>
            </a:r>
          </a:p>
          <a:p>
            <a:pPr algn="ctr"/>
            <a:r>
              <a:rPr sz="1100">
                <a:solidFill>
                  <a:srgbClr val="E5E7EB"/>
                </a:solidFill>
                <a:latin typeface="Segoe UI"/>
              </a:rPr>
              <a:t>USB-C power bank 5.1 V / 5 A → Pi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66344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Motor Rail</a:t>
            </a:r>
          </a:p>
          <a:p>
            <a:pPr algn="ctr"/>
            <a:r>
              <a:rPr sz="1100">
                <a:solidFill>
                  <a:srgbClr val="E5E7EB"/>
                </a:solidFill>
                <a:latin typeface="Segoe UI"/>
              </a:rPr>
              <a:t>2S 18650 (7.4 V) → buck 5 V → Arduino / L298N → 4× TT motors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Perception Model — Why YOLOv10n?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End-to-end detection without Non-Maximum Suppression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Segoe UI"/>
              </a:rPr>
              <a:t>Traditional YOLO (v5 / v8)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Backbone + Neck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One-to-many head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many overlapping candidate boxes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87171"/>
                </a:solidFill>
                <a:latin typeface="Segoe UI"/>
              </a:rPr>
              <a:t>NMS post-processing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IoU sort &amp; suppress on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Final detections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2468880"/>
            <a:ext cx="0" cy="2286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94560" y="3383280"/>
            <a:ext cx="0" cy="2286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94560" y="4297680"/>
            <a:ext cx="0" cy="2286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0" y="13258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YOLOv10 (NMS-free)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7830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Backbone + Neck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1546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One-to-one head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one box per object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5262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Final detections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no NMS step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2468880"/>
            <a:ext cx="0" cy="6858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43600" y="3840480"/>
            <a:ext cx="0" cy="6858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38160" y="1325880"/>
            <a:ext cx="3520440" cy="4846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463039"/>
            <a:ext cx="64008" cy="4572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463039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YOLOv10n at a glance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92807"/>
            <a:ext cx="3154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Params: </a:t>
            </a:r>
            <a:r>
              <a:rPr sz="1200">
                <a:solidFill>
                  <a:srgbClr val="E5E7EB"/>
                </a:solidFill>
                <a:latin typeface="Segoe UI"/>
              </a:rPr>
              <a:t>2.3 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Compute: </a:t>
            </a:r>
            <a:r>
              <a:rPr sz="1200">
                <a:solidFill>
                  <a:srgbClr val="E5E7EB"/>
                </a:solidFill>
                <a:latin typeface="Segoe UI"/>
              </a:rPr>
              <a:t>6.7 GFLOPs (640 input)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Trained on: </a:t>
            </a:r>
            <a:r>
              <a:rPr sz="1200">
                <a:solidFill>
                  <a:srgbClr val="E5E7EB"/>
                </a:solidFill>
                <a:latin typeface="Segoe UI"/>
              </a:rPr>
              <a:t>COCO, 80 classes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Classes used: </a:t>
            </a:r>
            <a:r>
              <a:rPr sz="1200">
                <a:solidFill>
                  <a:srgbClr val="E5E7EB"/>
                </a:solidFill>
                <a:latin typeface="Segoe UI"/>
              </a:rPr>
              <a:t>person, bicycle, car, motorcycle, bus, truck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Training trick: </a:t>
            </a:r>
            <a:r>
              <a:rPr sz="1200">
                <a:solidFill>
                  <a:srgbClr val="E5E7EB"/>
                </a:solidFill>
                <a:latin typeface="Segoe UI"/>
              </a:rPr>
              <a:t>dual label assignment (one-to-many + one-to-one)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Inference: </a:t>
            </a:r>
            <a:r>
              <a:rPr sz="1200">
                <a:solidFill>
                  <a:srgbClr val="E5E7EB"/>
                </a:solidFill>
                <a:latin typeface="Segoe UI"/>
              </a:rPr>
              <a:t>one-to-one head only → no NMS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 b="1">
                <a:solidFill>
                  <a:srgbClr val="E5E7EB"/>
                </a:solidFill>
                <a:latin typeface="Segoe UI"/>
              </a:rPr>
              <a:t>Source: </a:t>
            </a:r>
            <a:r>
              <a:rPr sz="1200">
                <a:solidFill>
                  <a:srgbClr val="E5E7EB"/>
                </a:solidFill>
                <a:latin typeface="Segoe UI"/>
              </a:rPr>
              <a:t>Wang et al., arXiv:2405.14458 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Inference Engine — Why Tencent NCNN on the Pi 5 CPU?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Making a CPU-only board run real-time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ARM NEON SIMD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63040"/>
            <a:ext cx="32918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E5E7EB"/>
                </a:solidFill>
                <a:latin typeface="Segoe UI"/>
              </a:rPr>
              <a:t>128-bit vector instructions on Cortex-A76 process several values per instruction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  <a:latin typeface="Segoe UI"/>
              </a:rPr>
              <a:t>FP16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651760"/>
            <a:ext cx="32918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E5E7EB"/>
                </a:solidFill>
                <a:latin typeface="Segoe UI"/>
              </a:rPr>
              <a:t>Half-precision export halves model size and memory bandwidth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Operator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840479"/>
            <a:ext cx="32918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E5E7EB"/>
                </a:solidFill>
                <a:latin typeface="Segoe UI"/>
              </a:rPr>
              <a:t>Conv + BatchNorm + activation merged into a single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Light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5029200"/>
            <a:ext cx="32918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E5E7EB"/>
                </a:solidFill>
                <a:latin typeface="Segoe UI"/>
              </a:rPr>
              <a:t>No Python/PyTorch overhead in the inner loop; pre-allocated buffers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5715000" cy="329184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benchmark.py output on Raspberry Pi 5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PyTorch FP32 vs ONNX vs NCNN FP16 vs OpenVINO FP16 — latency / FPS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800600"/>
            <a:ext cx="57150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Export pipeline: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yolov10n.pt  →  model.export(format="ncnn", imgsz=320, half=True)  →  yolov10n_ncnn_model/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Complete Software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Camera frame → perception → decision → serial command → reflex firmware → motors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11475720" cy="2423160"/>
          </a:xfrm>
          <a:prstGeom prst="roundRect">
            <a:avLst>
              <a:gd name="adj" fmla="val 4000"/>
            </a:avLst>
          </a:prstGeom>
          <a:solidFill>
            <a:srgbClr val="0E1728"/>
          </a:solidFill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Segoe UI"/>
              </a:rPr>
              <a:t>RASPBERRY PI 5  (Python)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34840"/>
            <a:ext cx="11475720" cy="1920240"/>
          </a:xfrm>
          <a:prstGeom prst="roundRect">
            <a:avLst>
              <a:gd name="adj" fmla="val 5000"/>
            </a:avLst>
          </a:prstGeom>
          <a:solidFill>
            <a:srgbClr val="0E1728"/>
          </a:solidFill>
          <a:ln w="15875">
            <a:solidFill>
              <a:srgbClr val="1E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46227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ARDUINO UNO  (C++ firmware, 100 Hz loop)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Camera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640×480 @ 30 FPS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01168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Pre-process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resize / ROI crop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55448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YOLOv10n · NCNN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people, vehicles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69748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Pothole engine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RDD2022 YOLOv10n +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011680"/>
            <a:ext cx="16459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A78BFA"/>
                </a:solidFill>
                <a:latin typeface="Segoe UI"/>
              </a:rPr>
              <a:t>Zone scorer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Left / Centre / Right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0116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A78BFA"/>
                </a:solidFill>
                <a:latin typeface="Segoe UI"/>
              </a:rPr>
              <a:t>Decision arbiter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87171"/>
                </a:solidFill>
                <a:latin typeface="Segoe UI"/>
              </a:rPr>
              <a:t>PI_STOP</a:t>
            </a:r>
          </a:p>
          <a:p>
            <a:pPr algn="ctr"/>
            <a:r>
              <a:rPr sz="850">
                <a:solidFill>
                  <a:srgbClr val="E5E7EB"/>
                </a:solidFill>
                <a:latin typeface="Segoe UI"/>
              </a:rPr>
              <a:t>emergency latch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14884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PI_AVOID L/R</a:t>
            </a:r>
          </a:p>
          <a:p>
            <a:pPr algn="ctr"/>
            <a:r>
              <a:rPr sz="850">
                <a:solidFill>
                  <a:srgbClr val="E5E7EB"/>
                </a:solidFill>
                <a:latin typeface="Segoe UI"/>
              </a:rPr>
              <a:t>directional swerve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83464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Follow-Me</a:t>
            </a:r>
          </a:p>
          <a:p>
            <a:pPr algn="ctr"/>
            <a:r>
              <a:rPr sz="850">
                <a:solidFill>
                  <a:srgbClr val="E5E7EB"/>
                </a:solidFill>
                <a:latin typeface="Segoe UI"/>
              </a:rPr>
              <a:t>KCF + HSV re-ID → PID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2441448"/>
            <a:ext cx="27432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1938528"/>
            <a:ext cx="274320" cy="347472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2606040"/>
            <a:ext cx="274320" cy="47548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60720" y="1938528"/>
            <a:ext cx="274320" cy="347472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2606040"/>
            <a:ext cx="274320" cy="47548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0" y="2441448"/>
            <a:ext cx="274319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418320" y="1737360"/>
            <a:ext cx="274320" cy="54864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418320" y="2423160"/>
            <a:ext cx="274320" cy="1828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18320" y="2606040"/>
            <a:ext cx="274320" cy="56692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3776472"/>
            <a:ext cx="11475720" cy="502920"/>
          </a:xfrm>
          <a:prstGeom prst="roundRect">
            <a:avLst/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5E7EB"/>
                </a:solidFill>
                <a:latin typeface="Segoe UI"/>
              </a:rPr>
              <a:t>USB-Serial 115200 8N1  —  ASCII commands: DRIVE · TURN · REV · STOP · PI_STOP · PI_GO · PI_AVOID      ⇅      [TELEM] / [ACK] replies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98480" y="3520440"/>
            <a:ext cx="0" cy="256032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98480" y="4279392"/>
            <a:ext cx="0" cy="429768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92640" y="47091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87171"/>
                </a:solidFill>
                <a:latin typeface="Segoe UI"/>
              </a:rPr>
              <a:t>Tier 1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PI_STOP latch / watchdog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7091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Tier 2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sonar &lt; 20 cm → reverse, turn, resume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47091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34D399"/>
                </a:solidFill>
                <a:latin typeface="Segoe UI"/>
              </a:rPr>
              <a:t>Tier 3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execute DRIVE / TURN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7091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L298N driver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PWM D5 / D6, dir D8–D11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4× TT motors</a:t>
            </a:r>
          </a:p>
          <a:p>
            <a:pPr algn="ctr"/>
            <a:r>
              <a:rPr sz="950">
                <a:solidFill>
                  <a:srgbClr val="E5E7EB"/>
                </a:solidFill>
                <a:latin typeface="Segoe UI"/>
              </a:rPr>
              <a:t>skid-steer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571500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 b="1">
                <a:solidFill>
                  <a:srgbClr val="94A3B8"/>
                </a:solidFill>
                <a:latin typeface="Segoe UI"/>
              </a:rPr>
              <a:t>2× HC-SR04P + 2× IR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418320" y="5138928"/>
            <a:ext cx="27432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132320" y="5138928"/>
            <a:ext cx="27432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846320" y="5138928"/>
            <a:ext cx="27432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560320" y="5138928"/>
            <a:ext cx="27432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412480" y="5577840"/>
            <a:ext cx="0" cy="13716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Negative Obstacles — Dual-Path Pothole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What ultrasonic sensors cannot see, the camera must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Path A — Deep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Custom YOLOv10n fine-tuned on RDD2022 (India subset, D40 pothole class)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50 training epochs  •  weights: best.pt (YOLOv10n)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Validation: Precision 54.0 %, mAP@50 25.2 %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Path B — Classical CV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9601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ROI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bottom 55 %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3950208"/>
            <a:ext cx="155447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64207" y="3520440"/>
            <a:ext cx="9601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Gaussian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5×5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3950208"/>
            <a:ext cx="15544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9776" y="3520440"/>
            <a:ext cx="9601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Laplacian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edges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9896" y="3950208"/>
            <a:ext cx="15544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95344" y="3520440"/>
            <a:ext cx="9601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Morphology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13×13 ellipse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5464" y="3950208"/>
            <a:ext cx="15544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10912" y="3520440"/>
            <a:ext cx="960120" cy="86868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Contour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577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Contour filters: 900 px &lt; area &lt; 25 % of ROI, aspect ratio 0.25–5.0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5577840" cy="1051560"/>
          </a:xfrm>
          <a:prstGeom prst="roundRect">
            <a:avLst/>
          </a:prstGeom>
          <a:solidFill>
            <a:srgbClr val="1B263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530352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Segoe UI"/>
              </a:rPr>
              <a:t>Zone danger score</a:t>
            </a:r>
          </a:p>
          <a:p>
            <a:pPr algn="l"/>
            <a:r>
              <a:rPr sz="1200" b="0" i="0">
                <a:solidFill>
                  <a:srgbClr val="E5E7EB"/>
                </a:solidFill>
                <a:latin typeface="Segoe UI"/>
              </a:rPr>
              <a:t>Danger = conf × W × (0.4 + min(A_box / A_frame, 0.5))</a:t>
            </a:r>
          </a:p>
          <a:p>
            <a:pPr algn="l"/>
            <a:r>
              <a:rPr sz="1200" b="0" i="0">
                <a:solidFill>
                  <a:srgbClr val="E5E7EB"/>
                </a:solidFill>
                <a:latin typeface="Segoe UI"/>
              </a:rPr>
              <a:t>W = 1.0 normal obstacle  •  W = 1.2–2.0 pothole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25880"/>
            <a:ext cx="5257800" cy="233172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Pothole detection output frame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Corridor overlay + swerve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5257800" cy="237744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Training curves (results.png)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runs_rdd/custom_pothole_model — loss &amp; mAP vs epoch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Follow-Me Tracking &amp; Re-Identification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Lock onto one person, keep following, recover after occlusion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2D3EE"/>
                </a:solidFill>
                <a:latin typeface="Segoe UI"/>
              </a:rPr>
              <a:t>Target lock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YOLO person box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1874519"/>
            <a:ext cx="18288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20240" y="141732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2D3EE"/>
                </a:solidFill>
                <a:latin typeface="Segoe UI"/>
              </a:rPr>
              <a:t>KCF tracker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fast frame-to-frame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874519"/>
            <a:ext cx="18288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141732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59E0B"/>
                </a:solidFill>
                <a:latin typeface="Segoe UI"/>
              </a:rPr>
              <a:t>Lost?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occlusion / exit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1874519"/>
            <a:ext cx="18288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141732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A78BFA"/>
                </a:solidFill>
                <a:latin typeface="Segoe UI"/>
              </a:rPr>
              <a:t>Re-ID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HSV torso histogram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59" y="1874519"/>
            <a:ext cx="182881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141732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34D399"/>
                </a:solidFill>
                <a:latin typeface="Segoe UI"/>
              </a:rPr>
              <a:t>PID control</a:t>
            </a:r>
          </a:p>
          <a:p>
            <a:pPr algn="ctr"/>
            <a:r>
              <a:rPr sz="900">
                <a:solidFill>
                  <a:srgbClr val="E5E7EB"/>
                </a:solidFill>
                <a:latin typeface="Segoe UI"/>
              </a:rPr>
              <a:t>steer +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06040"/>
            <a:ext cx="6675120" cy="173736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64008" cy="1463039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43200"/>
            <a:ext cx="630935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Segoe UI"/>
              </a:rPr>
              <a:t>Re-identification (tracker.py)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72968"/>
            <a:ext cx="6309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2-D H×S histogram (30×32 bins) of the upper torso stored on lock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Candidates compared with Bhattacharyya distance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Best match above the similarity threshold becomes the target again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6675120" cy="173736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617720"/>
            <a:ext cx="64008" cy="146303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630935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PID visual servoing (pid.py)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47488"/>
            <a:ext cx="6309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u(t) = Kp·e + Ki·Σe·Δt + Kd·Δe/Δt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Steering error = (x_box − x_centre) / frame width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Distance error = h_box / h_frame − 0.30 (target box height)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417320"/>
            <a:ext cx="4160520" cy="480060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Follow-me demo frame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Target box + re-ID score + PID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Firmware — 3-Tier Priority State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Safety decisions that never wait for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949440" cy="14630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4008" cy="1188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65836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Segoe UI"/>
              </a:rPr>
              <a:t>TIER 1 — Emergency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87171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PI_STOP: PWM → 0 instantly, latch until PI_GO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7171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Watchdog: no valid packet within WATCHDOG_TIMEOUT_MS → motors off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7171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Movement commands rejected while latched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9232"/>
            <a:ext cx="6949440" cy="14630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36392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36392"/>
            <a:ext cx="65836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Segoe UI"/>
              </a:rPr>
              <a:t>TIER 2 — Local reflex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Trigger: either sonar &lt; 20 cm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Reverse 400 ms → turn away 500 ms → resume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PI_AVOID hint overrides turn direction; 500 ms cooldown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26864"/>
            <a:ext cx="6949440" cy="14630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64024"/>
            <a:ext cx="64008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64024"/>
            <a:ext cx="65836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TIER 3 — 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2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DRIVE &lt;speed&gt; &lt;ms&gt;, REV, TURN &lt;deg&gt; &lt;speed&gt;, STOP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Hardware Timer0 PWM on D5 / D6 (0–255)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Sent by the Pi 5 decision arbiter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371600"/>
            <a:ext cx="3886200" cy="484632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Serial monitor log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e.g. [TELEM] AVOID triggered / [ACK] BLOCKED (PI_STOPPED)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Our Benchmark Results (Raspberry Pi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Fill with numbers measured on the car — cells marked 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Runtime comparison (imgsz 320, 100 frames)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85216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280160"/>
                <a:gridCol w="1097280"/>
                <a:gridCol w="822960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Format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Avg latency (ms)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Median (ms)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FPS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Det / frame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PyTorch FP32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ONNX FP32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Segoe UI"/>
                        </a:rPr>
                        <a:t>NCNN FP16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OpenVINO FP16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Resolution sweep (NCNN FP16)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89120"/>
          <a:ext cx="585216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645920"/>
                <a:gridCol w="128016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Input size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Avg latency (ms)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FPS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Det / frame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640 × 640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480 × 480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320 × 320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59E0B"/>
                          </a:solidFill>
                          <a:latin typeface="Segoe UI"/>
                        </a:rPr>
                        <a:t>__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675120" y="1325880"/>
            <a:ext cx="4983480" cy="237744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Terminal: benchmark comparison table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python benchmark.py --video dashcam_test.mp4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886200"/>
            <a:ext cx="4983480" cy="233172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htop / vcgencmd measure_temp during run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CPU load &amp; temperature under NCNN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Comparison with Similar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Perception stack and obstacle handling (see report §2 for sources)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10996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2148840"/>
                <a:gridCol w="1234440"/>
                <a:gridCol w="1005840"/>
                <a:gridCol w="1463040"/>
                <a:gridCol w="2331720"/>
                <a:gridCol w="1325880"/>
              </a:tblGrid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Platform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Primary model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NMS step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Compute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Obstacle sensing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Pothole</a:t>
                      </a:r>
                    </a:p>
                  </a:txBody>
                  <a:tcPr marL="54864" marR="54864" anchor="ctr">
                    <a:solidFill>
                      <a:srgbClr val="1B263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Segoe UI"/>
                        </a:rPr>
                        <a:t>Our vehicle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YOLOv10n (NCNN)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2.3 M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Pi 5 CPU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Camera + 2× sonar reflex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0E3A45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NVIDIA JetBot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SSD-MobileNetV2 / ResNet-18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4.3 M / 11.7 M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Yes (SSD)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Jetson Nano GPU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Camera classifier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AWS DeepRacer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PPO policy CNN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small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Intel Atom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Camera / LiDAR (RL)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Duckietown DB21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Classical lane pipeline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Jetson Nano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AprilTags + camera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OpenBot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MobileNet-SSD / CNN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~4 M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Smartphone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1× sonar + camera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DonkeyCar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Behavioural-cloning CNN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~1.6 M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Pi 4B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None (track racing)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SunFounder PiCar-X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TFLite demos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Pi 4B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1× sonar, grayscale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31C2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Hiwonder MentorPi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YOLOv5s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7.2 M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Pi 5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LiDAR + sonar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E5E7E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1018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Verify every row against report §2 before presenting; keep citations on the report slide/handout.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Live Demo — YOLOv10n on Any Video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test_yolov10_video.py: HUD with latency, FPS and object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4008" cy="2743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754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4754879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python test_yolov10_video.py --video pothole_test_2.mp4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python test_yolov10_video.py --video &lt;any_video.mp4&gt;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python test_yolov10_video.py --webcam 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D3EE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add  --save demo.mp4  to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64008" cy="13716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4754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38928"/>
            <a:ext cx="4754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4D399"/>
                </a:solidFill>
                <a:latin typeface="Segoe UI"/>
              </a:rPr>
              <a:t>▸ </a:t>
            </a:r>
            <a:r>
              <a:rPr sz="1200">
                <a:solidFill>
                  <a:srgbClr val="E5E7EB"/>
                </a:solidFill>
                <a:latin typeface="Segoe UI"/>
              </a:rPr>
              <a:t>p  pause / resume     s  screenshot     q  quit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5715000" cy="4846320"/>
          </a:xfrm>
          <a:prstGeom prst="rect">
            <a:avLst/>
          </a:prstGeom>
          <a:solidFill>
            <a:srgbClr val="0F182A"/>
          </a:solidFill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📷  SCREENSHOT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Segoe UI"/>
              </a:rPr>
              <a:t>Demo HUD frame</a:t>
            </a:r>
          </a:p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Bounding boxes + latency / FPS overlay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egoe UI"/>
              </a:rPr>
              <a:t>Roadmap — Next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850392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Three capabilities, nothing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4008" cy="3931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Segoe UI"/>
              </a:rPr>
              <a:t>01  Pothole avoidance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32004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Run RDD2022 YOLOv10n + CV fallback in the live loop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Validate corridor + swerve decisions on real surfaces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Tune POTHOLE_WEIGHT and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716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508760"/>
            <a:ext cx="64008" cy="3931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02  Lane following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2004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D3EE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Multi-ROI lane detector in LAB colour space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D3EE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Heading error θ = arctan(dx / dy)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D3EE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Feed θ into the existing PID 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508760"/>
            <a:ext cx="64008" cy="3931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03  Traffic signs &amp;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938528"/>
            <a:ext cx="320040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6 classes: go, right, park, red, green, crosswalk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5-frame debounce + upper-ROI gating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▸ </a:t>
            </a:r>
            <a:r>
              <a:rPr sz="1300">
                <a:solidFill>
                  <a:srgbClr val="E5E7EB"/>
                </a:solidFill>
                <a:latin typeface="Segoe UI"/>
              </a:rPr>
              <a:t>Red = stop latch, green = release, crosswalk = 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Status update: ____________________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Model-Car Capstone  |  NMIMS MPSTME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5400" b="1" i="0">
                <a:solidFill>
                  <a:srgbClr val="E5E7EB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Segoe UI"/>
              </a:rPr>
              <a:t>Krishna Menon  •  Aditya Rana  •  Parth Surve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